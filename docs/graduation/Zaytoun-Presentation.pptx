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64592" cy="7315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C18"/>
                </a:solidFill>
                <a:latin typeface="Calibri"/>
              </a:rPr>
              <a:t>THE HASHEMITE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Faculty of Prince Al-Hussein Bin Abdullah II for Information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Department of Computer Information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1F1C18"/>
                </a:solidFill>
                <a:latin typeface="Cambria"/>
              </a:rPr>
              <a:t>Zaytoun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A352E"/>
                </a:solidFill>
                <a:latin typeface="Cambria"/>
              </a:rPr>
              <a:t>A Web Platform for Recipe Discovery,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A352E"/>
                </a:solidFill>
                <a:latin typeface="Cambria"/>
              </a:rPr>
              <a:t>Arab Culinary Heritage, and Food Education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6344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3D2E"/>
                </a:solidFill>
                <a:latin typeface="Calibri"/>
              </a:rPr>
              <a:t>Graduation Project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321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1C18"/>
                </a:solidFill>
                <a:latin typeface="Cambria"/>
              </a:rPr>
              <a:t>Faris Hamdan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Student ID: [Insert Student ID]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303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Supervisor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532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C18"/>
                </a:solidFill>
                <a:latin typeface="Cambria"/>
              </a:rPr>
              <a:t>[Insert Supervisor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897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Academic Year 2025 /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Outline of the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02.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06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03.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46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Aim &amp;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04.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86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Related Existing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05.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26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System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06.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System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07.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965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08.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606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Problems &amp; Solutions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4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09.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246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Testing &amp;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404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10.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886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Results &amp; Demo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805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11.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526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1206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83D2E"/>
                </a:solidFill>
                <a:latin typeface="Cambria"/>
              </a:rPr>
              <a:t>12.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3A352E"/>
                </a:solidFill>
                <a:latin typeface="Calibri"/>
              </a:rPr>
              <a:t>References &amp; Q/A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Agenda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0"/>
            <a:ext cx="914400" cy="4572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D2E"/>
                </a:solidFill>
                <a:latin typeface="Calibri"/>
              </a:rP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BF6EF"/>
                </a:solidFill>
                <a:latin typeface="Cambria"/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48A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What is Zaytoun?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3A352E"/>
                </a:solidFill>
                <a:latin typeface="Cambria"/>
              </a:rPr>
              <a:t>Zaytoun is a single page web platform that brings recipe discovery, Arab culinary heritage, and food education into one unified, fast, bilingual experience.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007" y="3383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8007" y="3383280"/>
            <a:ext cx="265176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007" y="37490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 i="0">
                <a:solidFill>
                  <a:srgbClr val="1F1C18"/>
                </a:solidFill>
                <a:latin typeface="Cambria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007" y="46634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A352E"/>
                </a:solidFill>
                <a:latin typeface="Calibri"/>
              </a:rPr>
              <a:t>Content libraries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007" y="50292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54E"/>
                </a:solidFill>
                <a:latin typeface="Calibri"/>
              </a:rPr>
              <a:t>in one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2647" y="3383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2647" y="3383280"/>
            <a:ext cx="265176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2647" y="37490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 i="0">
                <a:solidFill>
                  <a:srgbClr val="1F1C18"/>
                </a:solidFill>
                <a:latin typeface="Cambria"/>
              </a:rPr>
              <a:t>2,200+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647" y="46634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A352E"/>
                </a:solidFill>
                <a:latin typeface="Calibri"/>
              </a:rPr>
              <a:t>Curated short videos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647" y="50292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54E"/>
                </a:solidFill>
                <a:latin typeface="Calibri"/>
              </a:rPr>
              <a:t>across 40 categories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3383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287" y="3383280"/>
            <a:ext cx="265176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7287" y="37490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 i="0">
                <a:solidFill>
                  <a:srgbClr val="1F1C18"/>
                </a:solidFill>
                <a:latin typeface="Cambria"/>
              </a:rPr>
              <a:t>EN / 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46634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A352E"/>
                </a:solidFill>
                <a:latin typeface="Calibri"/>
              </a:rPr>
              <a:t>Bilingual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50292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54E"/>
                </a:solidFill>
                <a:latin typeface="Calibri"/>
              </a:rPr>
              <a:t>full RTL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1927" y="3383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1927" y="3383280"/>
            <a:ext cx="265176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1927" y="37490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 i="0">
                <a:solidFill>
                  <a:srgbClr val="1F1C18"/>
                </a:solidFill>
                <a:latin typeface="Cambr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1927" y="46634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3A352E"/>
                </a:solidFill>
                <a:latin typeface="Calibri"/>
              </a:rPr>
              <a:t>Ads or trackers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1927" y="50292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54E"/>
                </a:solidFill>
                <a:latin typeface="Calibri"/>
              </a:rPr>
              <a:t>privacy first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Introduction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Why a New Food Platform?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700" b="1">
                <a:solidFill>
                  <a:srgbClr val="B83D2E"/>
                </a:solidFill>
                <a:latin typeface="Calibri"/>
              </a:rPr>
              <a:t>• </a:t>
            </a:r>
            <a:r>
              <a:rPr sz="1700" b="1">
                <a:solidFill>
                  <a:srgbClr val="1F1C18"/>
                </a:solidFill>
                <a:latin typeface="Calibri"/>
              </a:rPr>
              <a:t>Cluttered web. </a:t>
            </a:r>
            <a:r>
              <a:rPr sz="1700">
                <a:solidFill>
                  <a:srgbClr val="3A352E"/>
                </a:solidFill>
                <a:latin typeface="Calibri"/>
              </a:rPr>
              <a:t>Mainstream recipe sites are slow, ad heavy, and crowded with popups.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700" b="1">
                <a:solidFill>
                  <a:srgbClr val="B83D2E"/>
                </a:solidFill>
                <a:latin typeface="Calibri"/>
              </a:rPr>
              <a:t>• </a:t>
            </a:r>
            <a:r>
              <a:rPr sz="1700" b="1">
                <a:solidFill>
                  <a:srgbClr val="1F1C18"/>
                </a:solidFill>
                <a:latin typeface="Calibri"/>
              </a:rPr>
              <a:t>Weak Arabic support. </a:t>
            </a:r>
            <a:r>
              <a:rPr sz="1700">
                <a:solidFill>
                  <a:srgbClr val="3A352E"/>
                </a:solidFill>
                <a:latin typeface="Calibri"/>
              </a:rPr>
              <a:t>Search engines do not handle Arabic diacritics or transliteration.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700" b="1">
                <a:solidFill>
                  <a:srgbClr val="B83D2E"/>
                </a:solidFill>
                <a:latin typeface="Calibri"/>
              </a:rPr>
              <a:t>• </a:t>
            </a:r>
            <a:r>
              <a:rPr sz="1700" b="1">
                <a:solidFill>
                  <a:srgbClr val="1F1C18"/>
                </a:solidFill>
                <a:latin typeface="Calibri"/>
              </a:rPr>
              <a:t>Shallow regional coverage. </a:t>
            </a:r>
            <a:r>
              <a:rPr sz="1700">
                <a:solidFill>
                  <a:srgbClr val="3A352E"/>
                </a:solidFill>
                <a:latin typeface="Calibri"/>
              </a:rPr>
              <a:t>Mansaf, mlukhiyeh, maqluba, and koshary are missing or misrepresented.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700" b="1">
                <a:solidFill>
                  <a:srgbClr val="B83D2E"/>
                </a:solidFill>
                <a:latin typeface="Calibri"/>
              </a:rPr>
              <a:t>• </a:t>
            </a:r>
            <a:r>
              <a:rPr sz="1700" b="1">
                <a:solidFill>
                  <a:srgbClr val="1F1C18"/>
                </a:solidFill>
                <a:latin typeface="Calibri"/>
              </a:rPr>
              <a:t>Fragmented experience. </a:t>
            </a:r>
            <a:r>
              <a:rPr sz="1700">
                <a:solidFill>
                  <a:srgbClr val="3A352E"/>
                </a:solidFill>
                <a:latin typeface="Calibri"/>
              </a:rPr>
              <a:t>Users jump between Google, YouTube, Wikipedia, and Instagram to assemble food context.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700" b="1">
                <a:solidFill>
                  <a:srgbClr val="B83D2E"/>
                </a:solidFill>
                <a:latin typeface="Calibri"/>
              </a:rPr>
              <a:t>• </a:t>
            </a:r>
            <a:r>
              <a:rPr sz="1700" b="1">
                <a:solidFill>
                  <a:srgbClr val="1F1C18"/>
                </a:solidFill>
                <a:latin typeface="Calibri"/>
              </a:rPr>
              <a:t>Outdated Arabic platforms. </a:t>
            </a:r>
            <a:r>
              <a:rPr sz="1700">
                <a:solidFill>
                  <a:srgbClr val="3A352E"/>
                </a:solidFill>
                <a:latin typeface="Calibri"/>
              </a:rPr>
              <a:t>Shahiya and Fatafeat have not refreshed design or search in years.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700" b="1">
                <a:solidFill>
                  <a:srgbClr val="B83D2E"/>
                </a:solidFill>
                <a:latin typeface="Calibri"/>
              </a:rPr>
              <a:t>• </a:t>
            </a:r>
            <a:r>
              <a:rPr sz="1700" b="1">
                <a:solidFill>
                  <a:srgbClr val="1F1C18"/>
                </a:solidFill>
                <a:latin typeface="Calibri"/>
              </a:rPr>
              <a:t>No personal tools. </a:t>
            </a:r>
            <a:r>
              <a:rPr sz="1700">
                <a:solidFill>
                  <a:srgbClr val="3A352E"/>
                </a:solidFill>
                <a:latin typeface="Calibri"/>
              </a:rPr>
              <a:t>No site combines recipes with nutrition tools like a macro calculator.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What the Project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D2E"/>
                </a:solidFill>
                <a:latin typeface="Calibri"/>
              </a:rPr>
              <a:t>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3A352E"/>
                </a:solidFill>
                <a:latin typeface="Cambria"/>
              </a:rPr>
              <a:t>Design, build, and deploy a unified, fast, mobile friendly, and culturally aware food platform with first class Arabic and English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C18"/>
                </a:solidFill>
                <a:latin typeface="Calibri"/>
              </a:rPr>
              <a:t>1. Recipe discovery.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9300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Searchable, filterable catalogue powered by an external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4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C18"/>
                </a:solidFill>
                <a:latin typeface="Calibri"/>
              </a:rPr>
              <a:t>2. Arab cuisine library.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7024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Hand curated regional dishes with ingredients, steps, video.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C18"/>
                </a:solidFill>
                <a:latin typeface="Calibri"/>
              </a:rPr>
              <a:t>3. Editorial libraries.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4748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Films, lessons, markets, chefs, drinks, shorts.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C18"/>
                </a:solidFill>
                <a:latin typeface="Calibri"/>
              </a:rPr>
              <a:t>4. Smart search.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2472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Fuzzy, bilingual, voice, recent, suggested, did you mean.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C18"/>
                </a:solidFill>
                <a:latin typeface="Calibri"/>
              </a:rPr>
              <a:t>5. Bilingual interface.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49300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Full Arabic right to left, English left to right.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97764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C18"/>
                </a:solidFill>
                <a:latin typeface="Calibri"/>
              </a:rPr>
              <a:t>6. Fitness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27024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Mifflin St Jeor and Katch McArdle, PDF export.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7548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C18"/>
                </a:solidFill>
                <a:latin typeface="Calibri"/>
              </a:rPr>
              <a:t>7. Progressive web app.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04748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Installable, offline friendly, custom domain.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53212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C18"/>
                </a:solidFill>
                <a:latin typeface="Calibri"/>
              </a:rPr>
              <a:t>8. Editorial standards.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82472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No ads, no tracking, single design system.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Introduction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0"/>
            <a:ext cx="914400" cy="4572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D2E"/>
                </a:solidFill>
                <a:latin typeface="Calibri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BF6EF"/>
                </a:solidFill>
                <a:latin typeface="Cambria"/>
              </a:rPr>
              <a:t>Related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48A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Existing Systems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377440" cy="50292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BF6EF"/>
                </a:solidFill>
                <a:latin typeface="Cambria"/>
              </a:rPr>
              <a:t>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828800"/>
            <a:ext cx="4206240" cy="50292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8288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BF6EF"/>
                </a:solidFill>
                <a:latin typeface="Cambria"/>
              </a:rP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828800"/>
            <a:ext cx="4572000" cy="50292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82880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BF6EF"/>
                </a:solidFill>
                <a:latin typeface="Cambria"/>
              </a:rPr>
              <a:t>Weakness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C18"/>
                </a:solidFill>
                <a:latin typeface="Calibri"/>
              </a:rPr>
              <a:t>Allrecipes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331720"/>
            <a:ext cx="4206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33172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Largest community catalogue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331720"/>
            <a:ext cx="4572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33172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Heavy ads, no Arabic, slow mobile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2377440" cy="50292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346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C18"/>
                </a:solidFill>
                <a:latin typeface="Calibri"/>
              </a:rPr>
              <a:t>Tasty (BuzzFeed)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834640"/>
            <a:ext cx="4206240" cy="50292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83464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Viral short cooking videos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2834640"/>
            <a:ext cx="4572000" cy="50292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83464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Shallow regional coverage, ad heavy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3756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3375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C18"/>
                </a:solidFill>
                <a:latin typeface="Calibri"/>
              </a:rPr>
              <a:t>Yummly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337560"/>
            <a:ext cx="4206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333756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Personalization, fridge 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3337560"/>
            <a:ext cx="4572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333756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Biased to American food, paid tiers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40480"/>
            <a:ext cx="2377440" cy="50292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8404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C18"/>
                </a:solidFill>
                <a:latin typeface="Calibri"/>
              </a:rPr>
              <a:t>BBC Good Food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840480"/>
            <a:ext cx="4206240" cy="50292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384048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Editorial quality, tested recipes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3840480"/>
            <a:ext cx="4572000" cy="50292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384048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Regional UK brand, limited Arab food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4340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3434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C18"/>
                </a:solidFill>
                <a:latin typeface="Calibri"/>
              </a:rPr>
              <a:t>Shahiya / Fatafeat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4343400"/>
            <a:ext cx="42062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63240" y="4343400"/>
            <a:ext cx="3931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Native Arabic, regional dishes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4343400"/>
            <a:ext cx="4572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434340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Outdated UI, slow, heavy ads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83D2E"/>
                </a:solidFill>
                <a:latin typeface="Cambria"/>
              </a:rPr>
              <a:t>None of the reviewed platforms combine recipes, regional cuisine, films, lessons, markets, chefs, drinks, and shorts in one bilingual product.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Related 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0"/>
            <a:ext cx="914400" cy="4572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D2E"/>
                </a:solidFill>
                <a:latin typeface="Calibri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BF6EF"/>
                </a:solidFill>
                <a:latin typeface="Cambria"/>
              </a:rPr>
              <a:t>Analysis &amp;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48A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SYSTEM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Stakeholders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D2E"/>
                </a:solidFill>
                <a:latin typeface="Calibri"/>
              </a:rPr>
              <a:t>Primary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B83D2E"/>
                </a:solidFill>
                <a:latin typeface="Calibri"/>
              </a:rPr>
              <a:t>• </a:t>
            </a:r>
            <a:r>
              <a:rPr sz="1500">
                <a:solidFill>
                  <a:srgbClr val="1F1C18"/>
                </a:solidFill>
                <a:latin typeface="Calibri"/>
              </a:rPr>
              <a:t>Home cooks looking for reliable recipes.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B83D2E"/>
                </a:solidFill>
                <a:latin typeface="Calibri"/>
              </a:rPr>
              <a:t>• </a:t>
            </a:r>
            <a:r>
              <a:rPr sz="1500">
                <a:solidFill>
                  <a:srgbClr val="1F1C18"/>
                </a:solidFill>
                <a:latin typeface="Calibri"/>
              </a:rPr>
              <a:t>Arab cuisine enthusiasts.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B83D2E"/>
                </a:solidFill>
                <a:latin typeface="Calibri"/>
              </a:rPr>
              <a:t>• </a:t>
            </a:r>
            <a:r>
              <a:rPr sz="1500">
                <a:solidFill>
                  <a:srgbClr val="1F1C18"/>
                </a:solidFill>
                <a:latin typeface="Calibri"/>
              </a:rPr>
              <a:t>Casual food viewers (films, shorts).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B83D2E"/>
                </a:solidFill>
                <a:latin typeface="Calibri"/>
              </a:rPr>
              <a:t>• </a:t>
            </a:r>
            <a:r>
              <a:rPr sz="1500">
                <a:solidFill>
                  <a:srgbClr val="1F1C18"/>
                </a:solidFill>
                <a:latin typeface="Calibri"/>
              </a:rPr>
              <a:t>Fitness conscious users.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B83D2E"/>
                </a:solidFill>
                <a:latin typeface="Calibri"/>
              </a:rPr>
              <a:t>• </a:t>
            </a:r>
            <a:r>
              <a:rPr sz="1500">
                <a:solidFill>
                  <a:srgbClr val="1F1C18"/>
                </a:solidFill>
                <a:latin typeface="Calibri"/>
              </a:rPr>
              <a:t>Cooking learners following lessons.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A9362"/>
                </a:solidFill>
                <a:latin typeface="Calibri"/>
              </a:rPr>
              <a:t>Secondary Stakeholders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9456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B83D2E"/>
                </a:solidFill>
                <a:latin typeface="Calibri"/>
              </a:rPr>
              <a:t>• </a:t>
            </a:r>
            <a:r>
              <a:rPr sz="1500">
                <a:solidFill>
                  <a:srgbClr val="1F1C18"/>
                </a:solidFill>
                <a:latin typeface="Calibri"/>
              </a:rPr>
              <a:t>Supervisor and examination committee.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B83D2E"/>
                </a:solidFill>
                <a:latin typeface="Calibri"/>
              </a:rPr>
              <a:t>• </a:t>
            </a:r>
            <a:r>
              <a:rPr sz="1500">
                <a:solidFill>
                  <a:srgbClr val="1F1C18"/>
                </a:solidFill>
                <a:latin typeface="Calibri"/>
              </a:rPr>
              <a:t>Content owners (YouTube creators).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B83D2E"/>
                </a:solidFill>
                <a:latin typeface="Calibri"/>
              </a:rPr>
              <a:t>• </a:t>
            </a:r>
            <a:r>
              <a:rPr sz="1500">
                <a:solidFill>
                  <a:srgbClr val="1F1C18"/>
                </a:solidFill>
                <a:latin typeface="Calibri"/>
              </a:rPr>
              <a:t>External API providers (Spoonacular).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B83D2E"/>
                </a:solidFill>
                <a:latin typeface="Calibri"/>
              </a:rPr>
              <a:t>• </a:t>
            </a:r>
            <a:r>
              <a:rPr sz="1500">
                <a:solidFill>
                  <a:srgbClr val="1F1C18"/>
                </a:solidFill>
                <a:latin typeface="Calibri"/>
              </a:rPr>
              <a:t>Hosting providers (Vercel, Spaceship).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B83D2E"/>
                </a:solidFill>
                <a:latin typeface="Calibri"/>
              </a:rPr>
              <a:t>• </a:t>
            </a:r>
            <a:r>
              <a:rPr sz="1500">
                <a:solidFill>
                  <a:srgbClr val="1F1C18"/>
                </a:solidFill>
                <a:latin typeface="Calibri"/>
              </a:rPr>
              <a:t>The Department of Computer Information Systems.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SYSTEM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Recipe search by name, ingredient, cuisine, and tag.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31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Recipe details with ingredients, steps, video 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Favorites stored locally on the device.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46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Library of Arab dishes with full data and verified videos.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03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Library of food films and documentaries.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605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160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Academy with lessons, paths, and progress tracking.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177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617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Atlas of world food markets.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749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749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074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Hall of chefs grouped by region.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8745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8745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1874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Drinks library (hot and cold).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3317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3317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331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Vertical shorts feed with category filters.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7889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27889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2788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Macro calculator with PDF export.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2461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2461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246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Smart bilingual search (fuzzy, voice, suggestions).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7033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703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Bilingual interface (Arabic RTL and English LTR).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1605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1605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160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Light and dark theme.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6177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46177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0" y="4617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PWA install with offline access.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074920"/>
            <a:ext cx="548640" cy="292608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074920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5074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Client side routing without server reloads.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Analysis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SYSTEM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Non 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D2E"/>
                </a:solidFill>
                <a:latin typeface="Calibri"/>
              </a:rPr>
              <a:t>Execution Qualities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Performance. </a:t>
            </a:r>
            <a:r>
              <a:rPr sz="1300">
                <a:solidFill>
                  <a:srgbClr val="3A352E"/>
                </a:solidFill>
                <a:latin typeface="Calibri"/>
              </a:rPr>
              <a:t>FCP under 3 s on mid range 4G.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Mobile. </a:t>
            </a:r>
            <a:r>
              <a:rPr sz="1300">
                <a:solidFill>
                  <a:srgbClr val="3A352E"/>
                </a:solidFill>
                <a:latin typeface="Calibri"/>
              </a:rPr>
              <a:t>Usable from 360 px width.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Availability. </a:t>
            </a:r>
            <a:r>
              <a:rPr sz="1300">
                <a:solidFill>
                  <a:srgbClr val="3A352E"/>
                </a:solidFill>
                <a:latin typeface="Calibri"/>
              </a:rPr>
              <a:t>99 percent (Vercel).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Accessibility. </a:t>
            </a:r>
            <a:r>
              <a:rPr sz="1300">
                <a:solidFill>
                  <a:srgbClr val="3A352E"/>
                </a:solidFill>
                <a:latin typeface="Calibri"/>
              </a:rPr>
              <a:t>WCAG AA body contrast.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Internationalization. </a:t>
            </a:r>
            <a:r>
              <a:rPr sz="1300">
                <a:solidFill>
                  <a:srgbClr val="3A352E"/>
                </a:solidFill>
                <a:latin typeface="Calibri"/>
              </a:rPr>
              <a:t>Full Arabic RTL.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Privacy. </a:t>
            </a:r>
            <a:r>
              <a:rPr sz="1300">
                <a:solidFill>
                  <a:srgbClr val="3A352E"/>
                </a:solidFill>
                <a:latin typeface="Calibri"/>
              </a:rPr>
              <a:t>No third party tracking.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Security. </a:t>
            </a:r>
            <a:r>
              <a:rPr sz="1300">
                <a:solidFill>
                  <a:srgbClr val="3A352E"/>
                </a:solidFill>
                <a:latin typeface="Calibri"/>
              </a:rPr>
              <a:t>No client side secrets.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A9362"/>
                </a:solidFill>
                <a:latin typeface="Calibri"/>
              </a:rPr>
              <a:t>Evolution Qualities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9456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Maintainability. </a:t>
            </a:r>
            <a:r>
              <a:rPr sz="1300">
                <a:solidFill>
                  <a:srgbClr val="3A352E"/>
                </a:solidFill>
                <a:latin typeface="Calibri"/>
              </a:rPr>
              <a:t>TypeScript across the codebase.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Testability. </a:t>
            </a:r>
            <a:r>
              <a:rPr sz="1300">
                <a:solidFill>
                  <a:srgbClr val="3A352E"/>
                </a:solidFill>
                <a:latin typeface="Calibri"/>
              </a:rPr>
              <a:t>Pure functions in lib/.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Extensibility. </a:t>
            </a:r>
            <a:r>
              <a:rPr sz="1300">
                <a:solidFill>
                  <a:srgbClr val="3A352E"/>
                </a:solidFill>
                <a:latin typeface="Calibri"/>
              </a:rPr>
              <a:t>Add a library by adding a typed dataset.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Portability. </a:t>
            </a:r>
            <a:r>
              <a:rPr sz="1300">
                <a:solidFill>
                  <a:srgbClr val="3A352E"/>
                </a:solidFill>
                <a:latin typeface="Calibri"/>
              </a:rPr>
              <a:t>Static build, any host.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 b="1">
                <a:solidFill>
                  <a:srgbClr val="1F1C18"/>
                </a:solidFill>
                <a:latin typeface="Calibri"/>
              </a:rPr>
              <a:t>Documentation. </a:t>
            </a:r>
            <a:r>
              <a:rPr sz="1300">
                <a:solidFill>
                  <a:srgbClr val="3A352E"/>
                </a:solidFill>
                <a:latin typeface="Calibri"/>
              </a:rPr>
              <a:t>Self explanatory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Use Case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194560" cy="420624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B83D2E"/>
                </a:solidFill>
                <a:latin typeface="Calibri"/>
              </a:rPr>
              <a:t>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BF6EF"/>
                </a:solidFill>
                <a:latin typeface="Cambria"/>
              </a:rPr>
              <a:t>Visitor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F6EF"/>
                </a:solidFill>
                <a:latin typeface="Cambria"/>
              </a:rPr>
              <a:t>Returning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F6EF"/>
                </a:solidFill>
                <a:latin typeface="Cambria"/>
              </a:rPr>
              <a:t>External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BF6EF"/>
                </a:solidFill>
                <a:latin typeface="Cambria"/>
              </a:rPr>
              <a:t>YouTube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663440"/>
            <a:ext cx="1645920" cy="36576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9A948A"/>
                </a:solidFill>
                <a:latin typeface="Calibri"/>
              </a:rPr>
              <a:t>All features are available to every visitor; no account is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201168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201168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0116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UC1 Search recipes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01168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201168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0116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UC2 View recipe details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01168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201168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0116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UC3 Save / remove favorite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60604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0" y="260604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26060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UC4 Browse Arab cuisine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60604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260604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6060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UC5 Browse food films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60604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260604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6060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UC6 Follow learning path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20040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17520" y="320040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320040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UC7 Mark lesson complete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320040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89320" y="320040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20040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UC8 Browse markets atlas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61120" y="320040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61120" y="320040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320040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UC9 Browse chef hall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379476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17520" y="379476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379476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UC10 Browse drinks library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379476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89320" y="379476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379476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UC11 Browse shorts feed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0" y="379476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61120" y="379476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379476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UC12 Filter shorts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438912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017520" y="438912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0" y="43891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UC13 Calculate macros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438912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989320" y="438912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43891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UC14 Export PDF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61120" y="438912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1120" y="438912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0" y="438912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UC15 Smart global search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17520" y="498348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017520" y="498348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0" y="49834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UC16 Voice search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498348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89320" y="498348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72200" y="49834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UC17 Switch language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61120" y="498348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61120" y="498348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0" y="498348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UC18 Switch theme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557784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017520" y="557784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0" y="55778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UC19 Cookies preferences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89320" y="5577840"/>
            <a:ext cx="2880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89320" y="5577840"/>
            <a:ext cx="54864" cy="5029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72200" y="5577840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1C18"/>
                </a:solidFill>
                <a:latin typeface="Calibri"/>
              </a:rPr>
              <a:t>UC20 Install PWA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Design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64592" cy="77724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C18"/>
                </a:solidFill>
                <a:latin typeface="Calibri"/>
              </a:rP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React 19 components, React Router v6, Tailwind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164592" cy="77724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9864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D2E"/>
                </a:solidFill>
                <a:latin typeface="Calibri"/>
              </a:rP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TanStack Query (cache, retries), local storage (favorites, theme)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164592" cy="77724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673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9362"/>
                </a:solidFill>
                <a:latin typeface="Calibri"/>
              </a:rPr>
              <a:t>SEARCH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Fuse.js indices, AR / EN lexicon, synonym map, did you mean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164592" cy="777240"/>
          </a:xfrm>
          <a:prstGeom prst="rect">
            <a:avLst/>
          </a:prstGeom>
          <a:solidFill>
            <a:srgbClr val="3A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3600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A352E"/>
                </a:solidFill>
                <a:latin typeface="Calibri"/>
              </a:rPr>
              <a:t>CONTENT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Typed static datasets: recipes, Arab cuisine, films, lessons, markets, chefs, drinks, shorts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164592" cy="777240"/>
          </a:xfrm>
          <a:prstGeom prst="rect">
            <a:avLst/>
          </a:prstGeom>
          <a:solidFill>
            <a:srgbClr val="5A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046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54E"/>
                </a:solidFill>
                <a:latin typeface="Calibri"/>
              </a:rPr>
              <a:t>EXTERNAL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Spoonacular API · YouTube (lite embed) · Vercel hosting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0"/>
            <a:ext cx="914400" cy="4572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D2E"/>
                </a:solidFill>
                <a:latin typeface="Calibri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BF6EF"/>
                </a:solidFill>
                <a:latin typeface="Cambria"/>
              </a:rP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48A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6567" y="201168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567" y="201168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567" y="21488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React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567" y="2560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UI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2567" y="201168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12567" y="201168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2567" y="21488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2567" y="2560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Type safety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8567" y="201168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98567" y="201168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8567" y="21488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8567" y="2560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Build tool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84567" y="201168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84567" y="201168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4567" y="21488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Tailwind 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4567" y="2560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Styling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70567" y="201168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70567" y="201168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70567" y="21488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TanStack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0567" y="2560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Data fetching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567" y="30175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567" y="301752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567" y="31546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Fuse.js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567" y="3566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Fuzzy 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12567" y="30175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12567" y="301752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12567" y="31546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jsPDF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2567" y="3566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PDF export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8567" y="30175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98567" y="301752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98567" y="31546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Web Speech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98567" y="3566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Voice search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84567" y="30175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84567" y="301752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84567" y="31546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vite-plugin-pwa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4567" y="3566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Progressive web app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70567" y="301752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70567" y="301752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70567" y="31546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React Router v6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0567" y="3566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Client routing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567" y="402336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6567" y="402336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6567" y="41605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Spoonacular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6567" y="45720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Recipe API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12567" y="402336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12567" y="402336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12567" y="41605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YouTube lite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12567" y="45720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Video embeds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98567" y="402336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98567" y="402336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98567" y="41605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Vercel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98567" y="45720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Hosting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84567" y="402336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84567" y="402336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84567" y="41605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Spaceship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84567" y="45720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Custom domain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70567" y="4023360"/>
            <a:ext cx="2194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570567" y="4023360"/>
            <a:ext cx="219456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70567" y="41605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C18"/>
                </a:solidFill>
                <a:latin typeface="Cambria"/>
              </a:rPr>
              <a:t>lucide-react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70567" y="45720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Icons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Implementation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Smart Search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3A352E"/>
                </a:solidFill>
                <a:latin typeface="Cambria"/>
              </a:rPr>
              <a:t>A search that finally understands Arabic, typos, voice, and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54864" cy="91440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Bilingual lexicon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250+ Arabic terms mapped to English with diacritic normalization.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65176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651760"/>
            <a:ext cx="54864" cy="91440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Fuzzy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632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Fuse.js across 7 separate content indices.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54864" cy="91440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49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Voice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Web Speech API with ar-JO / en-US autodetect.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65760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657600"/>
            <a:ext cx="54864" cy="91440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749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Did you mean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0690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Relaxed threshold fallback when no direct hit.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66344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663440"/>
            <a:ext cx="54864" cy="91440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Recent queries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749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Stored in local storage, shown as chips.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466344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4663440"/>
            <a:ext cx="54864" cy="91440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7548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Suggested queries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0749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Curated starters: mansaf, koshary, mlukhiyeh, kibbeh.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6928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669280"/>
            <a:ext cx="54864" cy="91440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7607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English synonyms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807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aubergine and eggplant, courgette and zucchini, coriander and cilantro.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566928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5669280"/>
            <a:ext cx="54864" cy="91440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57607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Three variants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60807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Desktop pill, mobile drawer, standalone page.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Implementation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Content Libraries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3707" y="192024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3707" y="1920240"/>
            <a:ext cx="274320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707" y="2103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54E"/>
                </a:solidFill>
                <a:latin typeface="Calibri"/>
              </a:rPr>
              <a:t>Recipes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707" y="24231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1F1C18"/>
                </a:solidFill>
                <a:latin typeface="Cambria"/>
              </a:rPr>
              <a:t>50+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867" y="31546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Local fallback set merged with Spoonacular API.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4067" y="192024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84067" y="1920240"/>
            <a:ext cx="274320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4067" y="2103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54E"/>
                </a:solidFill>
                <a:latin typeface="Calibri"/>
              </a:rPr>
              <a:t>Arab Cuisine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4067" y="24231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1F1C18"/>
                </a:solidFill>
                <a:latin typeface="Cambria"/>
              </a:rPr>
              <a:t>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Regional dishes: Jordan, Palestine, Egypt, Levant, Gulf.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4427" y="192024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4427" y="1920240"/>
            <a:ext cx="274320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4427" y="2103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54E"/>
                </a:solidFill>
                <a:latin typeface="Calibri"/>
              </a:rPr>
              <a:t>Food Films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4427" y="24231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1F1C18"/>
                </a:solidFill>
                <a:latin typeface="Cambria"/>
              </a:rPr>
              <a:t>30+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587" y="31546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Documentaries with year, director, and synopsis.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4787" y="192024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4787" y="1920240"/>
            <a:ext cx="274320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4787" y="2103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54E"/>
                </a:solidFill>
                <a:latin typeface="Calibri"/>
              </a:rPr>
              <a:t>Academy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4787" y="24231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1F1C18"/>
                </a:solidFill>
                <a:latin typeface="Cambria"/>
              </a:rPr>
              <a:t>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1947" y="31546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Lessons across 6 learning paths.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3707" y="40233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3707" y="4023360"/>
            <a:ext cx="274320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3707" y="4206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54E"/>
                </a:solidFill>
                <a:latin typeface="Calibri"/>
              </a:rPr>
              <a:t>World Markets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3707" y="4526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1F1C18"/>
                </a:solidFill>
                <a:latin typeface="Cambria"/>
              </a:rPr>
              <a:t>20+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867" y="52578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Markets atlas with location and video tour.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84067" y="40233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84067" y="4023360"/>
            <a:ext cx="274320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84067" y="4206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54E"/>
                </a:solidFill>
                <a:latin typeface="Calibri"/>
              </a:rPr>
              <a:t>Chef Hall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84067" y="4526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1F1C18"/>
                </a:solidFill>
                <a:latin typeface="Cambria"/>
              </a:rPr>
              <a:t>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1227" y="52578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Chefs grouped by 6 regions, signature dish each.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4427" y="40233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64427" y="4023360"/>
            <a:ext cx="274320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4427" y="4206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54E"/>
                </a:solidFill>
                <a:latin typeface="Calibri"/>
              </a:rPr>
              <a:t>Drinks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64427" y="4526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1F1C18"/>
                </a:solidFill>
                <a:latin typeface="Cambria"/>
              </a:rPr>
              <a:t>20+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1587" y="52578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Hot and cold, including coffee, tea, sahlab.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44787" y="40233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44787" y="4023360"/>
            <a:ext cx="2743200" cy="7315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44787" y="4206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A554E"/>
                </a:solidFill>
                <a:latin typeface="Calibri"/>
              </a:rPr>
              <a:t>Shorts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4787" y="45262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1F1C18"/>
                </a:solidFill>
                <a:latin typeface="Cambria"/>
              </a:rPr>
              <a:t>2,200+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1947" y="52578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554E"/>
                </a:solidFill>
                <a:latin typeface="Calibri"/>
              </a:rPr>
              <a:t>TikTok style feed across 40 categories.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Implementation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Macro Calculator &amp; Fitness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3A352E"/>
                </a:solidFill>
                <a:latin typeface="Cambria"/>
              </a:rPr>
              <a:t>Built in macronutrient planner with PDF export.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54864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83D2E"/>
                </a:solidFill>
                <a:latin typeface="Calibri"/>
              </a:rPr>
              <a:t>FORMULAS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Mifflin St Jeor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onsolas"/>
              </a:rPr>
              <a:t>BMR = 10·W + 6.25·H − 5·A +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Katch McArdle (when body fat % given)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onsolas"/>
              </a:rPr>
              <a:t>BMR = 370 + 21.6 · LBM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Activity multipliers: 1.2 → 1.9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834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Goal adjustment: cut −20%, maintain 0%, bulk +15%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A352E"/>
                </a:solidFill>
                <a:latin typeface="Calibri"/>
              </a:rPr>
              <a:t>Presets: standard 40/30/30, high protein 40/40/20, keto 5/35/60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560320"/>
            <a:ext cx="54864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A9362"/>
                </a:solidFill>
                <a:latin typeface="Calibri"/>
              </a:rPr>
              <a:t>INTERFACE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51206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B83D2E"/>
                </a:solidFill>
                <a:latin typeface="Calibri"/>
              </a:rPr>
              <a:t>• </a:t>
            </a:r>
            <a:r>
              <a:rPr sz="1200">
                <a:solidFill>
                  <a:srgbClr val="1F1C18"/>
                </a:solidFill>
                <a:latin typeface="Calibri"/>
              </a:rPr>
              <a:t>Visible labels with tooltips per input.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B83D2E"/>
                </a:solidFill>
                <a:latin typeface="Calibri"/>
              </a:rPr>
              <a:t>• </a:t>
            </a:r>
            <a:r>
              <a:rPr sz="1200">
                <a:solidFill>
                  <a:srgbClr val="1F1C18"/>
                </a:solidFill>
                <a:latin typeface="Calibri"/>
              </a:rPr>
              <a:t>String state inputs (no snap to 0 on clear).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B83D2E"/>
                </a:solidFill>
                <a:latin typeface="Calibri"/>
              </a:rPr>
              <a:t>• </a:t>
            </a:r>
            <a:r>
              <a:rPr sz="1200">
                <a:solidFill>
                  <a:srgbClr val="1F1C18"/>
                </a:solidFill>
                <a:latin typeface="Calibri"/>
              </a:rPr>
              <a:t>Validation messages on touched fields.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B83D2E"/>
                </a:solidFill>
                <a:latin typeface="Calibri"/>
              </a:rPr>
              <a:t>• </a:t>
            </a:r>
            <a:r>
              <a:rPr sz="1200">
                <a:solidFill>
                  <a:srgbClr val="1F1C18"/>
                </a:solidFill>
                <a:latin typeface="Calibri"/>
              </a:rPr>
              <a:t>Live preview of calories, protein, carbs, fat, water.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B83D2E"/>
                </a:solidFill>
                <a:latin typeface="Calibri"/>
              </a:rPr>
              <a:t>• </a:t>
            </a:r>
            <a:r>
              <a:rPr sz="1200">
                <a:solidFill>
                  <a:srgbClr val="1F1C18"/>
                </a:solidFill>
                <a:latin typeface="Calibri"/>
              </a:rPr>
              <a:t>PDF export through dynamic jsPDF import.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B83D2E"/>
                </a:solidFill>
                <a:latin typeface="Calibri"/>
              </a:rPr>
              <a:t>• </a:t>
            </a:r>
            <a:r>
              <a:rPr sz="1200">
                <a:solidFill>
                  <a:srgbClr val="1F1C18"/>
                </a:solidFill>
                <a:latin typeface="Calibri"/>
              </a:rPr>
              <a:t>Results saved in local storage (zaytoun:macros:v1).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B83D2E"/>
                </a:solidFill>
                <a:latin typeface="Calibri"/>
              </a:rPr>
              <a:t>• </a:t>
            </a:r>
            <a:r>
              <a:rPr sz="1200">
                <a:solidFill>
                  <a:srgbClr val="1F1C18"/>
                </a:solidFill>
                <a:latin typeface="Calibri"/>
              </a:rPr>
              <a:t>Synced with the active goal plan card.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Problems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474720" cy="45720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BF6EF"/>
                </a:solidFill>
                <a:latin typeface="Cambria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828800"/>
            <a:ext cx="3840480" cy="45720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8288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BF6EF"/>
                </a:solidFill>
                <a:latin typeface="Cambria"/>
              </a:rPr>
              <a:t>Root 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828800"/>
            <a:ext cx="3840480" cy="45720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8288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BF6EF"/>
                </a:solidFill>
                <a:latin typeface="Cambria"/>
              </a:rPr>
              <a:t>Fix Applied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B83D2E"/>
                </a:solidFill>
                <a:latin typeface="Calibri"/>
              </a:rPr>
              <a:t>ISP blocked *.vercel.app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28600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286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SNI level block on Jordanian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28600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286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9362"/>
                </a:solidFill>
                <a:latin typeface="Calibri"/>
              </a:rPr>
              <a:t>Custom domain zaytoun.online via Spaceship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347472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43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B83D2E"/>
                </a:solidFill>
                <a:latin typeface="Calibri"/>
              </a:rPr>
              <a:t>404 on /drinks in prod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2743200"/>
            <a:ext cx="384048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2743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SPA needs server rewrite + stale SW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743200"/>
            <a:ext cx="384048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2743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9362"/>
                </a:solidFill>
                <a:latin typeface="Calibri"/>
              </a:rPr>
              <a:t>Added vercel.json rewrite, bumped SW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0040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200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B83D2E"/>
                </a:solidFill>
                <a:latin typeface="Calibri"/>
              </a:rPr>
              <a:t>Mobile horizontal shake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320040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32004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Stagger animation + iOS URL bar vh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20040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32004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9362"/>
                </a:solidFill>
                <a:latin typeface="Calibri"/>
              </a:rPr>
              <a:t>Removed animation, switched to 100dvh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57600"/>
            <a:ext cx="347472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657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B83D2E"/>
                </a:solidFill>
                <a:latin typeface="Calibri"/>
              </a:rPr>
              <a:t>Sticky header broke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3657600"/>
            <a:ext cx="384048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36576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overflow-x: clip implied scroll container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657600"/>
            <a:ext cx="384048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36576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9362"/>
                </a:solidFill>
                <a:latin typeface="Calibri"/>
              </a:rPr>
              <a:t>Replaced with max-width: 100vw + scrollbar-gutter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1480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1148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B83D2E"/>
                </a:solidFill>
                <a:latin typeface="Calibri"/>
              </a:rPr>
              <a:t>YouTube gray placeholder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411480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60520" y="41148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maxresdefault returns 120 px gray image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411480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0" y="41148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9362"/>
                </a:solidFill>
                <a:latin typeface="Calibri"/>
              </a:rPr>
              <a:t>onLoad naturalWidth check + sd / hq fallback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572000"/>
            <a:ext cx="347472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B83D2E"/>
                </a:solidFill>
                <a:latin typeface="Calibri"/>
              </a:rPr>
              <a:t>TS2590 too complex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23360" y="4572000"/>
            <a:ext cx="384048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0520" y="4572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40 literal union × 2,200 shorts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4572000"/>
            <a:ext cx="384048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0" y="4572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9362"/>
                </a:solidFill>
                <a:latin typeface="Calibri"/>
              </a:rPr>
              <a:t>Loosened category type to string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02920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0292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B83D2E"/>
                </a:solidFill>
                <a:latin typeface="Calibri"/>
              </a:rPr>
              <a:t>Calculator reset to 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502920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0520" y="5029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Number('') is 0 in JavaScript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5029200"/>
            <a:ext cx="38404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01000" y="50292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9362"/>
                </a:solidFill>
                <a:latin typeface="Calibri"/>
              </a:rPr>
              <a:t>Switched inputs to string state + parse on submit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486400"/>
            <a:ext cx="347472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5486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B83D2E"/>
                </a:solidFill>
                <a:latin typeface="Calibri"/>
              </a:rPr>
              <a:t>Labels invisible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23360" y="5486400"/>
            <a:ext cx="384048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60520" y="54864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A554E"/>
                </a:solidFill>
                <a:latin typeface="Calibri"/>
              </a:rPr>
              <a:t>.eyebrow { display: none } site-wide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63840" y="5486400"/>
            <a:ext cx="3840480" cy="457200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01000" y="54864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7A9362"/>
                </a:solidFill>
                <a:latin typeface="Calibri"/>
              </a:rPr>
              <a:t>Replaced eyebrow with new Label component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Implementation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0"/>
            <a:ext cx="914400" cy="4572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D2E"/>
                </a:solidFill>
                <a:latin typeface="Calibri"/>
              </a:rP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BF6EF"/>
                </a:solidFill>
                <a:latin typeface="Cambria"/>
              </a:rPr>
              <a:t>Testing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48A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Testing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2287" y="21031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2103120"/>
            <a:ext cx="3657600" cy="73152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887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C18"/>
                </a:solidFill>
                <a:latin typeface="Cambria"/>
              </a:rPr>
              <a:t>Type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887" y="297180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TypeScript compiler catches structural bugs at build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047" y="21031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047" y="2103120"/>
            <a:ext cx="3657600" cy="73152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5647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C18"/>
                </a:solidFill>
                <a:latin typeface="Cambria"/>
              </a:rPr>
              <a:t>Manual UAT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647" y="297180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20 scripts covering every use case, run on real devices.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807" y="210312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1807" y="2103120"/>
            <a:ext cx="3657600" cy="73152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C18"/>
                </a:solidFill>
                <a:latin typeface="Cambria"/>
              </a:rPr>
              <a:t>Cross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407" y="297180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Chrome, Edge, Firefox, Safari on desktop and mobile.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287" y="406908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2287" y="4069080"/>
            <a:ext cx="3657600" cy="73152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887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C18"/>
                </a:solidFill>
                <a:latin typeface="Cambria"/>
              </a:rPr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887" y="493776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Lighthouse audits on simulated slow 4G.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047" y="406908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047" y="4069080"/>
            <a:ext cx="3657600" cy="73152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5647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C18"/>
                </a:solidFill>
                <a:latin typeface="Cambria"/>
              </a:rPr>
              <a:t>Accessibility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5647" y="493776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Keyboard navigation, focus rings, contrast checks.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1807" y="406908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1807" y="4069080"/>
            <a:ext cx="3657600" cy="73152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0407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C18"/>
                </a:solidFill>
                <a:latin typeface="Cambria"/>
              </a:rPr>
              <a:t>Real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0407" y="493776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4E"/>
                </a:solidFill>
                <a:latin typeface="Calibri"/>
              </a:rPr>
              <a:t>Verified on Jordanian mobile networks (iPad, Android).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Test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8007" y="1874519"/>
            <a:ext cx="2651760" cy="137160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007" y="2103119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BF6EF"/>
                </a:solidFill>
                <a:latin typeface="Cambria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007" y="274319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948A"/>
                </a:solidFill>
                <a:latin typeface="Calibri"/>
              </a:rPr>
              <a:t>Use case scripts passed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2647" y="1874519"/>
            <a:ext cx="2651760" cy="137160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2647" y="2103119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BF6EF"/>
                </a:solidFill>
                <a:latin typeface="Cambria"/>
              </a:rPr>
              <a:t>&gt;90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2647" y="274319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948A"/>
                </a:solidFill>
                <a:latin typeface="Calibri"/>
              </a:rPr>
              <a:t>Lighthouse desktop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287" y="1874519"/>
            <a:ext cx="2651760" cy="137160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7287" y="2103119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BF6EF"/>
                </a:solidFill>
                <a:latin typeface="Cambria"/>
              </a:rPr>
              <a:t>&gt;80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287" y="274319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948A"/>
                </a:solidFill>
                <a:latin typeface="Calibri"/>
              </a:rPr>
              <a:t>Lighthouse mobile 4G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1927" y="1874519"/>
            <a:ext cx="2651760" cy="137160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1927" y="2103119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BF6EF"/>
                </a:solidFill>
                <a:latin typeface="Cambria"/>
              </a:rPr>
              <a:t>&gt;95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1927" y="274319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A948A"/>
                </a:solidFill>
                <a:latin typeface="Calibri"/>
              </a:rPr>
              <a:t>Accessibility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66160"/>
            <a:ext cx="2560320" cy="384048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BF6EF"/>
                </a:solidFill>
                <a:latin typeface="Cambria"/>
              </a:rPr>
              <a:t>Browser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566160"/>
            <a:ext cx="2468880" cy="384048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356616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BF6EF"/>
                </a:solidFill>
                <a:latin typeface="Cambria"/>
              </a:rPr>
              <a:t>Device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3566160"/>
            <a:ext cx="2377440" cy="384048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356616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BF6EF"/>
                </a:solidFill>
                <a:latin typeface="Cambria"/>
              </a:rPr>
              <a:t>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3566160"/>
            <a:ext cx="3657600" cy="384048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356616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BF6EF"/>
                </a:solidFill>
                <a:latin typeface="Cambria"/>
              </a:rPr>
              <a:t>Result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50208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502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Chrome 122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950208"/>
            <a:ext cx="24688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6120" y="395020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Desktop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3950208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395020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Windows 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3950208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3950208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7A9362"/>
                </a:solidFill>
                <a:latin typeface="Calibri"/>
              </a:rPr>
              <a:t>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34256"/>
            <a:ext cx="256032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33425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Edge 122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4334256"/>
            <a:ext cx="246888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46120" y="433425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Desktop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4334256"/>
            <a:ext cx="237744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433425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Windows 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4334256"/>
            <a:ext cx="365760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4334256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7A9362"/>
                </a:solidFill>
                <a:latin typeface="Calibri"/>
              </a:rPr>
              <a:t>Pass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718304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7183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Firefox 124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08960" y="4718304"/>
            <a:ext cx="24688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46120" y="471830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Desktop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4718304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0" y="471830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Windows 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80" y="4718304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92440" y="4718304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7A9362"/>
                </a:solidFill>
                <a:latin typeface="Calibri"/>
              </a:rPr>
              <a:t>Pass (no voice)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102352"/>
            <a:ext cx="256032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" y="510235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Safari 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08960" y="5102352"/>
            <a:ext cx="246888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46120" y="5102352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Desktop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5102352"/>
            <a:ext cx="237744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15000" y="510235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macOS 14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55280" y="5102352"/>
            <a:ext cx="365760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2440" y="5102352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7A9362"/>
                </a:solidFill>
                <a:latin typeface="Calibri"/>
              </a:rPr>
              <a:t>Pass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486400"/>
            <a:ext cx="2560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48640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Chrome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08960" y="5486400"/>
            <a:ext cx="24688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46120" y="548640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Galaxy 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5486400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15000" y="548640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Android 13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80" y="5486400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92440" y="548640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7A9362"/>
                </a:solidFill>
                <a:latin typeface="Calibri"/>
              </a:rPr>
              <a:t>Pass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870448"/>
            <a:ext cx="256032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5800" y="5870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Safari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108960" y="5870448"/>
            <a:ext cx="246888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46120" y="587044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iPad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5870448"/>
            <a:ext cx="237744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15000" y="5870448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3A352E"/>
                </a:solidFill>
                <a:latin typeface="Calibri"/>
              </a:rPr>
              <a:t>iPadOS 17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80" y="5870448"/>
            <a:ext cx="3657600" cy="384048"/>
          </a:xfrm>
          <a:prstGeom prst="rect">
            <a:avLst/>
          </a:prstGeom>
          <a:solidFill>
            <a:srgbClr val="F4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92440" y="5870448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7A9362"/>
                </a:solidFill>
                <a:latin typeface="Calibri"/>
              </a:rPr>
              <a:t>Pass on custom domain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Testing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Screens of the Live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3707" y="1920240"/>
            <a:ext cx="2743200" cy="123444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3707" y="192024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A948A"/>
                </a:solidFill>
                <a:latin typeface="Calibri"/>
              </a:rPr>
              <a:t>[ screenshot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03707" y="315468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867" y="32186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C18"/>
                </a:solidFill>
                <a:latin typeface="Calibri"/>
              </a:rP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867" y="34290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4E"/>
                </a:solidFill>
                <a:latin typeface="Calibri"/>
              </a:rPr>
              <a:t>Editorial landing with recipe of the day, featured trio.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4067" y="1920240"/>
            <a:ext cx="2743200" cy="123444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84067" y="192024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A948A"/>
                </a:solidFill>
                <a:latin typeface="Calibri"/>
              </a:rPr>
              <a:t>[ screenshot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4067" y="315468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1227" y="32186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C18"/>
                </a:solidFill>
                <a:latin typeface="Calibri"/>
              </a:rPr>
              <a:t>Recipe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4290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4E"/>
                </a:solidFill>
                <a:latin typeface="Calibri"/>
              </a:rPr>
              <a:t>Ingredients, steps, nutrition, embedded video.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4427" y="1920240"/>
            <a:ext cx="2743200" cy="123444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4427" y="192024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A948A"/>
                </a:solidFill>
                <a:latin typeface="Calibri"/>
              </a:rPr>
              <a:t>[ screenshot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4427" y="315468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1587" y="32186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C18"/>
                </a:solidFill>
                <a:latin typeface="Calibri"/>
              </a:rPr>
              <a:t>Arab Cuisine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587" y="34290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4E"/>
                </a:solidFill>
                <a:latin typeface="Calibri"/>
              </a:rPr>
              <a:t>Regional dish library, mansaf detail.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4787" y="1920240"/>
            <a:ext cx="2743200" cy="123444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4787" y="192024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A948A"/>
                </a:solidFill>
                <a:latin typeface="Calibri"/>
              </a:rPr>
              <a:t>[ screenshot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4787" y="315468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1947" y="32186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C18"/>
                </a:solidFill>
                <a:latin typeface="Calibri"/>
              </a:rPr>
              <a:t>Smart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1947" y="34290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4E"/>
                </a:solidFill>
                <a:latin typeface="Calibri"/>
              </a:rPr>
              <a:t>Arabic query with did you mean fallback.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3707" y="4023360"/>
            <a:ext cx="2743200" cy="123444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3707" y="402336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A948A"/>
                </a:solidFill>
                <a:latin typeface="Calibri"/>
              </a:rPr>
              <a:t>[ screenshot 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3707" y="525780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867" y="53218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C18"/>
                </a:solidFill>
                <a:latin typeface="Calibri"/>
              </a:rPr>
              <a:t>Shorts Feed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867" y="553212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4E"/>
                </a:solidFill>
                <a:latin typeface="Calibri"/>
              </a:rPr>
              <a:t>TikTok style snap scroll with category chips.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84067" y="4023360"/>
            <a:ext cx="2743200" cy="123444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84067" y="402336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A948A"/>
                </a:solidFill>
                <a:latin typeface="Calibri"/>
              </a:rPr>
              <a:t>[ screenshot 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84067" y="525780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1227" y="53218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C18"/>
                </a:solidFill>
                <a:latin typeface="Calibri"/>
              </a:rPr>
              <a:t>Fitness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1227" y="553212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4E"/>
                </a:solidFill>
                <a:latin typeface="Calibri"/>
              </a:rPr>
              <a:t>Macro calculator and goal plan cards.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4427" y="4023360"/>
            <a:ext cx="2743200" cy="123444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4427" y="402336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A948A"/>
                </a:solidFill>
                <a:latin typeface="Calibri"/>
              </a:rPr>
              <a:t>[ screenshot 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4427" y="525780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1587" y="53218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C18"/>
                </a:solidFill>
                <a:latin typeface="Calibri"/>
              </a:rPr>
              <a:t>Films Library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1587" y="553212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4E"/>
                </a:solidFill>
                <a:latin typeface="Calibri"/>
              </a:rPr>
              <a:t>Magazine grid of food documentaries.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44787" y="4023360"/>
            <a:ext cx="2743200" cy="1234440"/>
          </a:xfrm>
          <a:prstGeom prst="rect">
            <a:avLst/>
          </a:prstGeom>
          <a:solidFill>
            <a:srgbClr val="1F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44787" y="4023360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9A948A"/>
                </a:solidFill>
                <a:latin typeface="Calibri"/>
              </a:rPr>
              <a:t>[ screenshot 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44787" y="525780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1947" y="53218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1C18"/>
                </a:solidFill>
                <a:latin typeface="Calibri"/>
              </a:rPr>
              <a:t>Dark Mode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1947" y="553212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4E"/>
                </a:solidFill>
                <a:latin typeface="Calibri"/>
              </a:rPr>
              <a:t>Full token remap, no hard coded colors.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9A948A"/>
                </a:solidFill>
                <a:latin typeface="Calibri"/>
              </a:rPr>
              <a:t>Replace each placeholder with an actual screenshot from zaytoun.online before the defense.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Demo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B83D2E"/>
                </a:solidFill>
                <a:latin typeface="Calibri"/>
              </a:rPr>
              <a:t>LIVE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9A948A"/>
                </a:solidFill>
                <a:latin typeface="Cambria"/>
              </a:rPr>
              <a:t>The website is live now and you can open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400" b="1" i="0">
                <a:solidFill>
                  <a:srgbClr val="FBF6EF"/>
                </a:solidFill>
                <a:latin typeface="Cambria"/>
              </a:rPr>
              <a:t>zaytoun.online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4937760"/>
            <a:ext cx="1828800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9A948A"/>
                </a:solidFill>
                <a:latin typeface="Calibri"/>
              </a:rPr>
              <a:t>Try the smart search in Arabic, scroll the shorts feed, or open the macro calculator.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43200"/>
            <a:ext cx="914400" cy="45720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D2E"/>
                </a:solidFill>
                <a:latin typeface="Calibri"/>
              </a:rPr>
              <a:t>PART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BF6EF"/>
                </a:solidFill>
                <a:latin typeface="Cambria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48A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Strengths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A9362"/>
                </a:solidFill>
                <a:latin typeface="Calibri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Editorial design, single visual system.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Smart search with Arabic, voice, and did you mean.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Mobile first performance verified on real networks.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Production grade deployment, custom domain, OG metadata.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Eight content libraries shipped in one product.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No backend, no ads, no tracking.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Bilingual interface treated as a first class concern.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83D2E"/>
                </a:solidFill>
                <a:latin typeface="Calibri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9456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No automated test suite yet.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No user accounts or cloud sync.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No admin panel for editing content.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Recipe API limited to 150 requests per day.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Curated by one developer (single editorial voice).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No on site analytics by design.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English and Arabic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2287" y="192024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2287" y="1920240"/>
            <a:ext cx="54864" cy="128016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167" y="2103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Automated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4688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Vitest unit tests, Playwright end to end.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047" y="192024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047" y="1920240"/>
            <a:ext cx="54864" cy="128016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9927" y="2103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Cloud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9927" y="24688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Optional accounts for favorites and progress.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807" y="192024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1807" y="1920240"/>
            <a:ext cx="54864" cy="128016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687" y="2103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Admin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687" y="24688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Edit content libraries without redeploying.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287" y="333756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2287" y="3337560"/>
            <a:ext cx="54864" cy="128016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167" y="3520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Self Hosted Recipes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" y="38862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Index public corpora to remove API limits.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047" y="333756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047" y="3337560"/>
            <a:ext cx="54864" cy="128016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9927" y="3520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More Languages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9927" y="38862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French and Turkish UI and dish names.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1807" y="333756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1807" y="3337560"/>
            <a:ext cx="54864" cy="128016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4687" y="3520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Cook Along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4687" y="38862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Wake Lock, voice steps, kitchen timer.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2287" y="475488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2287" y="4754880"/>
            <a:ext cx="54864" cy="128016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167" y="4937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Shopping 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167" y="53035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Add ingredients, plan meals across a week.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7047" y="475488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7047" y="4754880"/>
            <a:ext cx="54864" cy="128016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9927" y="4937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Community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9927" y="53035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Light moderation, comments per recipe.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1807" y="475488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1807" y="4754880"/>
            <a:ext cx="54864" cy="128016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4687" y="4937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C18"/>
                </a:solidFill>
                <a:latin typeface="Calibri"/>
              </a:rPr>
              <a:t>Mobile Wrapper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4687" y="530352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4E"/>
                </a:solidFill>
                <a:latin typeface="Calibri"/>
              </a:rPr>
              <a:t>Capacitor build for iOS and Android stores.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Conclusion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1C18"/>
                </a:solidFill>
                <a:latin typeface="Cambria"/>
              </a:rPr>
              <a:t>Selected References (APA)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0" cy="36576"/>
          </a:xfrm>
          <a:prstGeom prst="rect">
            <a:avLst/>
          </a:prstGeom>
          <a:solidFill>
            <a:srgbClr val="7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1. React documentation. https://react.dev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2. TypeScript documentation. https://www.typescriptlang.org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3. Vite, the build tool. https://vitejs.dev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4. Tailwind CSS. https://tailwindcss.com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5. TanStack Query. https://tanstack.com/query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6. Fuse.js. https://fusejs.io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7. Spoonacular Food API. https://spoonacular.com/food-api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8. Vercel hosting platform. https://vercel.com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9. WCAG 2.1, W3C accessibility guidelines.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10. Mozilla Web Speech API documentation, MDN.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11. Mifflin et al. (1990). New predictive equation for resting energy expenditure. AJCN 51(2).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12. Katch and McArdle (1996). Introduction to nutrition, exercise, and health.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13. Allrecipes, Tasty, Yummly, BBC Good Food, Shahiya, Fatafeat.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B83D2E"/>
                </a:solidFill>
                <a:latin typeface="Calibri"/>
              </a:rPr>
              <a:t>• </a:t>
            </a:r>
            <a:r>
              <a:rPr sz="1300">
                <a:solidFill>
                  <a:srgbClr val="1F1C18"/>
                </a:solidFill>
                <a:latin typeface="Calibri"/>
              </a:rPr>
              <a:t>14. Department of Computer Information Systems graduation guidelines (2025).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4E"/>
                </a:solidFill>
                <a:latin typeface="Cambria"/>
              </a:rPr>
              <a:t>Zaytoun  ·  Faris Hamdan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A948A"/>
                </a:solidFill>
                <a:latin typeface="Calibri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00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554E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20640" y="2103120"/>
            <a:ext cx="2011680" cy="54864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B83D2E"/>
                </a:solidFill>
                <a:latin typeface="Calibri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600" b="1" i="0">
                <a:solidFill>
                  <a:srgbClr val="1F1C18"/>
                </a:solidFill>
                <a:latin typeface="Cambr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3A352E"/>
                </a:solidFill>
                <a:latin typeface="Cambria"/>
              </a:rPr>
              <a:t>I would be glad to answer any questions from the committee.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B83D2E"/>
                </a:solidFill>
                <a:latin typeface="Cambria"/>
              </a:rPr>
              <a:t>zaytoun.online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54E"/>
                </a:solidFill>
                <a:latin typeface="Calibri"/>
              </a:rPr>
              <a:t>Faris Hamdan  ·  Department of Computer Information Systems  ·  The Hashemite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